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914400" cy="566928"/>
          </a:xfrm>
          <a:prstGeom prst="roundRect">
            <a:avLst>
              <a:gd name="adj" fmla="val 6000"/>
            </a:avLst>
          </a:prstGeom>
          <a:solidFill>
            <a:srgbClr val="0B0F14"/>
          </a:solidFill>
          <a:ln w="12700">
            <a:solidFill>
              <a:srgbClr val="35C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35C7EB"/>
                </a:solidFill>
                <a:latin typeface="Consolas"/>
              </a:rPr>
              <a:t>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548640"/>
            <a:ext cx="8229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5C6B7A"/>
                </a:solidFill>
                <a:latin typeface="Consolas"/>
              </a:rPr>
              <a:t>Linguagens de Programação · demonstração ao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400" b="1" i="0">
                <a:solidFill>
                  <a:srgbClr val="E6EDF3"/>
                </a:solidFill>
                <a:latin typeface="Segoe UI"/>
              </a:rPr>
              <a:t>Web Scraper Concorrente</a:t>
            </a:r>
          </a:p>
          <a:p>
            <a:r>
              <a:rPr sz="5400" b="1" i="0">
                <a:solidFill>
                  <a:srgbClr val="E6EDF3"/>
                </a:solidFill>
                <a:latin typeface="Segoe UI"/>
              </a:rPr>
              <a:t>em </a:t>
            </a:r>
            <a:r>
              <a:rPr sz="5400" b="1" i="0">
                <a:solidFill>
                  <a:srgbClr val="35C7EB"/>
                </a:solidFill>
                <a:latin typeface="Segoe UI"/>
              </a:rPr>
              <a:t>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700" b="0" i="0">
                <a:solidFill>
                  <a:srgbClr val="93A1B0"/>
                </a:solidFill>
                <a:latin typeface="Segoe UI"/>
              </a:rPr>
              <a:t>Consultar </a:t>
            </a:r>
            <a:r>
              <a:rPr sz="1700" b="1" i="0">
                <a:solidFill>
                  <a:srgbClr val="E6EDF3"/>
                </a:solidFill>
                <a:latin typeface="Segoe UI"/>
              </a:rPr>
              <a:t>10 lojas ao mesmo tempo</a:t>
            </a:r>
            <a:r>
              <a:rPr sz="1700" b="0" i="0">
                <a:solidFill>
                  <a:srgbClr val="93A1B0"/>
                </a:solidFill>
                <a:latin typeface="Segoe UI"/>
              </a:rPr>
              <a:t> em vez de uma por vez — usando os três construtores que definem a linguagem: </a:t>
            </a:r>
            <a:r>
              <a:rPr sz="1700" b="1" i="0">
                <a:solidFill>
                  <a:srgbClr val="35C7EB"/>
                </a:solidFill>
                <a:latin typeface="Consolas"/>
              </a:rPr>
              <a:t>goroutines</a:t>
            </a:r>
            <a:r>
              <a:rPr sz="1700" b="0" i="0">
                <a:solidFill>
                  <a:srgbClr val="93A1B0"/>
                </a:solidFill>
                <a:latin typeface="Segoe UI"/>
              </a:rPr>
              <a:t>, </a:t>
            </a:r>
            <a:r>
              <a:rPr sz="1700" b="1" i="0">
                <a:solidFill>
                  <a:srgbClr val="35C7EB"/>
                </a:solidFill>
                <a:latin typeface="Consolas"/>
              </a:rPr>
              <a:t>channels</a:t>
            </a:r>
            <a:r>
              <a:rPr sz="1700" b="0" i="0">
                <a:solidFill>
                  <a:srgbClr val="93A1B0"/>
                </a:solidFill>
                <a:latin typeface="Segoe UI"/>
              </a:rPr>
              <a:t> e </a:t>
            </a:r>
            <a:r>
              <a:rPr sz="1700" b="1" i="0">
                <a:solidFill>
                  <a:srgbClr val="35C7EB"/>
                </a:solidFill>
                <a:latin typeface="Consolas"/>
              </a:rPr>
              <a:t>select</a:t>
            </a:r>
            <a:r>
              <a:rPr sz="1700" b="0" i="0">
                <a:solidFill>
                  <a:srgbClr val="93A1B0"/>
                </a:solidFill>
                <a:latin typeface="Segoe UI"/>
              </a:rPr>
              <a:t>. Concorrência simples, legível e confiável.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5C6B7A"/>
                </a:solidFill>
                <a:latin typeface="Consolas"/>
              </a:rPr>
              <a:t>Cobre os critérios da rubrica · comparação com C e Python · resultados reais medidos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20">
                <a:solidFill>
                  <a:srgbClr val="5C6B7A"/>
                </a:solidFill>
                <a:latin typeface="Consolas"/>
              </a:rPr>
              <a:t>02   </a:t>
            </a:r>
            <a:r>
              <a:rPr sz="1300" b="1" i="0" spc="220">
                <a:solidFill>
                  <a:srgbClr val="35C7EB"/>
                </a:solidFill>
                <a:latin typeface="Consolas"/>
              </a:rPr>
              <a:t>A LINGUAGEM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E6EDF3"/>
                </a:solidFill>
                <a:latin typeface="Segoe UI"/>
              </a:rPr>
              <a:t>Linguagem: </a:t>
            </a:r>
            <a:r>
              <a:rPr sz="4000" b="1" i="0">
                <a:solidFill>
                  <a:srgbClr val="35C7EB"/>
                </a:solidFill>
                <a:latin typeface="Segoe UI"/>
              </a:rPr>
              <a:t>histórico e versão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60350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500" b="1" i="0">
                <a:solidFill>
                  <a:srgbClr val="E6EDF3"/>
                </a:solidFill>
                <a:latin typeface="Segoe UI"/>
              </a:rPr>
              <a:t>2007</a:t>
            </a:r>
            <a:r>
              <a:rPr sz="1500" b="0" i="0">
                <a:solidFill>
                  <a:srgbClr val="93A1B0"/>
                </a:solidFill>
                <a:latin typeface="Segoe UI"/>
              </a:rPr>
              <a:t> — concebida no Google por Griesemer, Pike e Thompson (raízes no Unix e no C).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500" b="1" i="0">
                <a:solidFill>
                  <a:srgbClr val="E6EDF3"/>
                </a:solidFill>
                <a:latin typeface="Segoe UI"/>
              </a:rPr>
              <a:t>Nov/2009</a:t>
            </a:r>
            <a:r>
              <a:rPr sz="1500" b="0" i="0">
                <a:solidFill>
                  <a:srgbClr val="93A1B0"/>
                </a:solidFill>
                <a:latin typeface="Segoe UI"/>
              </a:rPr>
              <a:t> — anunciada como open source (licença BSD, gratuita).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500" b="1" i="0">
                <a:solidFill>
                  <a:srgbClr val="E6EDF3"/>
                </a:solidFill>
                <a:latin typeface="Segoe UI"/>
              </a:rPr>
              <a:t>Mar/2012</a:t>
            </a:r>
            <a:r>
              <a:rPr sz="1500" b="0" i="0">
                <a:solidFill>
                  <a:srgbClr val="93A1B0"/>
                </a:solidFill>
                <a:latin typeface="Segoe UI"/>
              </a:rPr>
              <a:t> — Go 1.0 e a promessa de compatibilidade: código de 2012 ainda compila.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500" b="1" i="0">
                <a:solidFill>
                  <a:srgbClr val="E6EDF3"/>
                </a:solidFill>
                <a:latin typeface="Segoe UI"/>
              </a:rPr>
              <a:t>Hoje</a:t>
            </a:r>
            <a:r>
              <a:rPr sz="1500" b="0" i="0">
                <a:solidFill>
                  <a:srgbClr val="93A1B0"/>
                </a:solidFill>
                <a:latin typeface="Segoe UI"/>
              </a:rPr>
              <a:t> — Go 1.24 (2025). Compilada, tipagem estática, garbage collector, sintaxe família C.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500" b="1" i="0">
                <a:solidFill>
                  <a:srgbClr val="E6EDF3"/>
                </a:solidFill>
                <a:latin typeface="Segoe UI"/>
              </a:rPr>
              <a:t>Motivação</a:t>
            </a:r>
            <a:r>
              <a:rPr sz="1500" b="0" i="0">
                <a:solidFill>
                  <a:srgbClr val="93A1B0"/>
                </a:solidFill>
                <a:latin typeface="Segoe UI"/>
              </a:rPr>
              <a:t> — builds lentos de C++, dependências confusas e concorrência difícil. Só 25 palavras-chave.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965960"/>
            <a:ext cx="4617720" cy="384048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0" y="2075688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51776" y="2075688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71232" y="2075688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2002536"/>
            <a:ext cx="3520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0" i="0">
                <a:solidFill>
                  <a:srgbClr val="5C6B7A"/>
                </a:solidFill>
                <a:latin typeface="Consolas"/>
              </a:rPr>
              <a:t>quem usa Go hoje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8896" y="2331720"/>
            <a:ext cx="42519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i="0">
                <a:solidFill>
                  <a:srgbClr val="6B7D8C"/>
                </a:solidFill>
                <a:latin typeface="Consolas"/>
              </a:rPr>
              <a:t># infraestrutura moderna é Go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</a:rPr>
              <a:t>Docker        </a:t>
            </a:r>
            <a:r>
              <a:rPr sz="1200" b="0" i="0">
                <a:solidFill>
                  <a:srgbClr val="35C7EB"/>
                </a:solidFill>
                <a:latin typeface="Consolas"/>
              </a:rPr>
              <a:t>contêineres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</a:rPr>
              <a:t>Kubernetes    </a:t>
            </a:r>
            <a:r>
              <a:rPr sz="1200" b="0" i="0">
                <a:solidFill>
                  <a:srgbClr val="35C7EB"/>
                </a:solidFill>
                <a:latin typeface="Consolas"/>
              </a:rPr>
              <a:t>orquestração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</a:rPr>
              <a:t>Terraform     </a:t>
            </a:r>
            <a:r>
              <a:rPr sz="1200" b="0" i="0">
                <a:solidFill>
                  <a:srgbClr val="35C7EB"/>
                </a:solidFill>
                <a:latin typeface="Consolas"/>
              </a:rPr>
              <a:t>infra as code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</a:rPr>
              <a:t>Prometheus    </a:t>
            </a:r>
            <a:r>
              <a:rPr sz="1200" b="0" i="0">
                <a:solidFill>
                  <a:srgbClr val="35C7EB"/>
                </a:solidFill>
                <a:latin typeface="Consolas"/>
              </a:rPr>
              <a:t>observabilidade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6B7D8C"/>
                </a:solidFill>
                <a:latin typeface="Consolas"/>
              </a:rPr>
              <a:t># filosofia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5C6B7A"/>
                </a:solidFill>
                <a:latin typeface="Consolas"/>
              </a:rPr>
              <a:t>"Less is exponentially more."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5C6B7A"/>
                </a:solidFill>
                <a:latin typeface="Consolas"/>
              </a:rPr>
              <a:t>            — Rob Pike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20">
                <a:solidFill>
                  <a:srgbClr val="5C6B7A"/>
                </a:solidFill>
                <a:latin typeface="Consolas"/>
              </a:rPr>
              <a:t>03   </a:t>
            </a:r>
            <a:r>
              <a:rPr sz="1300" b="1" i="0" spc="220">
                <a:solidFill>
                  <a:srgbClr val="35C7EB"/>
                </a:solidFill>
                <a:latin typeface="Consolas"/>
              </a:rPr>
              <a:t>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E6EDF3"/>
                </a:solidFill>
                <a:latin typeface="Segoe UI"/>
              </a:rPr>
              <a:t>Projeto: </a:t>
            </a:r>
            <a:r>
              <a:rPr sz="3400" b="1" i="0">
                <a:solidFill>
                  <a:srgbClr val="35C7EB"/>
                </a:solidFill>
                <a:latin typeface="Segoe UI"/>
              </a:rPr>
              <a:t>premissas, usuário e domínio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66544"/>
            <a:ext cx="3209544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 spc="120">
                <a:solidFill>
                  <a:srgbClr val="35C7EB"/>
                </a:solidFill>
                <a:latin typeface="Consolas"/>
              </a:rPr>
              <a:t>DOMÍNIO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Web scraping concorrente</a:t>
            </a:r>
          </a:p>
          <a:p>
            <a:r>
              <a:rPr sz="1150" b="0" i="0">
                <a:solidFill>
                  <a:srgbClr val="93A1B0"/>
                </a:solidFill>
                <a:latin typeface="Segoe UI"/>
              </a:rPr>
              <a:t>Coleta de preços do mesmo produto em várias lojas via HTTP, decodifica JSON e monta um ranking.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07992" y="19202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066544"/>
            <a:ext cx="3209544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 spc="120">
                <a:solidFill>
                  <a:srgbClr val="35C7EB"/>
                </a:solidFill>
                <a:latin typeface="Consolas"/>
              </a:rPr>
              <a:t>USUÁRIO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Consumidor &amp; estudante</a:t>
            </a:r>
          </a:p>
          <a:p>
            <a:r>
              <a:rPr sz="1150" b="0" i="0">
                <a:solidFill>
                  <a:srgbClr val="93A1B0"/>
                </a:solidFill>
                <a:latin typeface="Segoe UI"/>
              </a:rPr>
              <a:t>Quem quer o menor preço sem abrir 10 abas — e quem quer ver a concorrência funcionando.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75904" y="19202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7072" y="2066544"/>
            <a:ext cx="3209544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 spc="120">
                <a:solidFill>
                  <a:srgbClr val="35C7EB"/>
                </a:solidFill>
                <a:latin typeface="Consolas"/>
              </a:rPr>
              <a:t>PREMISSA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Rede é espera, não CPU</a:t>
            </a:r>
          </a:p>
          <a:p>
            <a:r>
              <a:rPr sz="1150" b="0" i="0">
                <a:solidFill>
                  <a:srgbClr val="93A1B0"/>
                </a:solidFill>
                <a:latin typeface="Segoe UI"/>
              </a:rPr>
              <a:t>O gargalo é a resposta da rede. Disparar N requisições simultâneas reduz o tempo ao da loja mais lenta.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05072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151376"/>
            <a:ext cx="3209544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 spc="120">
                <a:solidFill>
                  <a:srgbClr val="35C7EB"/>
                </a:solidFill>
                <a:latin typeface="Consolas"/>
              </a:rPr>
              <a:t>MÓDULO 1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webscraper (mock)</a:t>
            </a:r>
          </a:p>
          <a:p>
            <a:r>
              <a:rPr sz="1150" b="0" i="0">
                <a:solidFill>
                  <a:srgbClr val="93A1B0"/>
                </a:solidFill>
                <a:latin typeface="Segoe UI"/>
              </a:rPr>
              <a:t>Servidor HTTP local simula 10 lojas com latências distintas. Demo determinística, sem internet.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4005072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151376"/>
            <a:ext cx="3209544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 spc="120">
                <a:solidFill>
                  <a:srgbClr val="35C7EB"/>
                </a:solidFill>
                <a:latin typeface="Consolas"/>
              </a:rPr>
              <a:t>MÓDULO 2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webscraper-real</a:t>
            </a:r>
          </a:p>
          <a:p>
            <a:r>
              <a:rPr sz="1150" b="0" i="0">
                <a:solidFill>
                  <a:srgbClr val="93A1B0"/>
                </a:solidFill>
                <a:latin typeface="Segoe UI"/>
              </a:rPr>
              <a:t>Consulta a API pública dummyjson.com — dados reais, preços com desconto e avaliação.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4005072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4151376"/>
            <a:ext cx="3209544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 spc="120">
                <a:solidFill>
                  <a:srgbClr val="35C7EB"/>
                </a:solidFill>
                <a:latin typeface="Consolas"/>
              </a:rPr>
              <a:t>MÓDULO 3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comparacao.py</a:t>
            </a:r>
          </a:p>
          <a:p>
            <a:r>
              <a:rPr sz="1150" b="0" i="0">
                <a:solidFill>
                  <a:srgbClr val="93A1B0"/>
                </a:solidFill>
                <a:latin typeface="Segoe UI"/>
              </a:rPr>
              <a:t>Mesmo problema em Python (sequencial × threads × pool) para medir Go contra outra linguagem.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20">
                <a:solidFill>
                  <a:srgbClr val="5C6B7A"/>
                </a:solidFill>
                <a:latin typeface="Consolas"/>
              </a:rPr>
              <a:t>04   </a:t>
            </a:r>
            <a:r>
              <a:rPr sz="1300" b="1" i="0" spc="220">
                <a:solidFill>
                  <a:srgbClr val="35C7EB"/>
                </a:solidFill>
                <a:latin typeface="Consolas"/>
              </a:rPr>
              <a:t>CRITÉRIO DE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35C7EB"/>
                </a:solidFill>
                <a:latin typeface="Segoe UI"/>
              </a:rPr>
              <a:t>Construtores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45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450" b="1" i="0">
                <a:solidFill>
                  <a:srgbClr val="35C7EB"/>
                </a:solidFill>
                <a:latin typeface="Consolas"/>
              </a:rPr>
              <a:t>go f()</a:t>
            </a:r>
            <a:r>
              <a:rPr sz="1450" b="0" i="0">
                <a:solidFill>
                  <a:srgbClr val="93A1B0"/>
                </a:solidFill>
                <a:latin typeface="Segoe UI"/>
              </a:rPr>
              <a:t> — goroutine: função concorrente. ~2 KB de pilha.</a:t>
            </a:r>
          </a:p>
          <a:p>
            <a:pPr>
              <a:spcAft>
                <a:spcPts val="1300"/>
              </a:spcAft>
            </a:pPr>
            <a:r>
              <a:rPr sz="145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450" b="1" i="0">
                <a:solidFill>
                  <a:srgbClr val="35C7EB"/>
                </a:solidFill>
                <a:latin typeface="Consolas"/>
              </a:rPr>
              <a:t>chan T</a:t>
            </a:r>
            <a:r>
              <a:rPr sz="1450" b="0" i="0">
                <a:solidFill>
                  <a:srgbClr val="93A1B0"/>
                </a:solidFill>
                <a:latin typeface="Segoe UI"/>
              </a:rPr>
              <a:t> — channel tipado: troca de dados sem locks manuais.</a:t>
            </a:r>
          </a:p>
          <a:p>
            <a:pPr>
              <a:spcAft>
                <a:spcPts val="1300"/>
              </a:spcAft>
            </a:pPr>
            <a:r>
              <a:rPr sz="145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450" b="1" i="0">
                <a:solidFill>
                  <a:srgbClr val="35C7EB"/>
                </a:solidFill>
                <a:latin typeface="Consolas"/>
              </a:rPr>
              <a:t>&lt;-ch</a:t>
            </a:r>
            <a:r>
              <a:rPr sz="1450" b="0" i="0">
                <a:solidFill>
                  <a:srgbClr val="93A1B0"/>
                </a:solidFill>
                <a:latin typeface="Segoe UI"/>
              </a:rPr>
              <a:t> — recebe e sincroniza: bloqueia até haver dado.</a:t>
            </a:r>
          </a:p>
          <a:p>
            <a:pPr>
              <a:spcAft>
                <a:spcPts val="1300"/>
              </a:spcAft>
            </a:pPr>
            <a:r>
              <a:rPr sz="145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450" b="1" i="0">
                <a:solidFill>
                  <a:srgbClr val="35C7EB"/>
                </a:solidFill>
                <a:latin typeface="Consolas"/>
              </a:rPr>
              <a:t>select</a:t>
            </a:r>
            <a:r>
              <a:rPr sz="1450" b="0" i="0">
                <a:solidFill>
                  <a:srgbClr val="93A1B0"/>
                </a:solidFill>
                <a:latin typeface="Segoe UI"/>
              </a:rPr>
              <a:t> — espera vários canais; o 1º pronto vence. É o timeout.</a:t>
            </a:r>
          </a:p>
          <a:p>
            <a:pPr>
              <a:spcAft>
                <a:spcPts val="1300"/>
              </a:spcAft>
            </a:pPr>
            <a:r>
              <a:rPr sz="145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450" b="1" i="0">
                <a:solidFill>
                  <a:srgbClr val="35C7EB"/>
                </a:solidFill>
                <a:latin typeface="Consolas"/>
              </a:rPr>
              <a:t>struct · defer · slice · map</a:t>
            </a:r>
            <a:r>
              <a:rPr sz="1450" b="0" i="0">
                <a:solidFill>
                  <a:srgbClr val="93A1B0"/>
                </a:solidFill>
                <a:latin typeface="Segoe UI"/>
              </a:rPr>
              <a:t> — o resto do vocabulário.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874519"/>
            <a:ext cx="6126480" cy="196596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23560" y="1984247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43016" y="1984247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62472" y="1984247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11095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0" i="0">
                <a:solidFill>
                  <a:srgbClr val="5C6B7A"/>
                </a:solidFill>
                <a:latin typeface="Consolas"/>
              </a:rPr>
              <a:t>Go — palavra-chave da linguagem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0136" y="2240279"/>
            <a:ext cx="576072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0">
                <a:solidFill>
                  <a:srgbClr val="FF7B9C"/>
                </a:solidFill>
                <a:latin typeface="Consolas"/>
              </a:rPr>
              <a:t>for</a:t>
            </a:r>
            <a:r>
              <a:rPr sz="1100" b="0" i="0">
                <a:solidFill>
                  <a:srgbClr val="E6EDF3"/>
                </a:solidFill>
                <a:latin typeface="Consolas"/>
              </a:rPr>
              <a:t> _, s := </a:t>
            </a:r>
            <a:r>
              <a:rPr sz="1100" b="0" i="0">
                <a:solidFill>
                  <a:srgbClr val="FF7B9C"/>
                </a:solidFill>
                <a:latin typeface="Consolas"/>
              </a:rPr>
              <a:t>range</a:t>
            </a:r>
            <a:r>
              <a:rPr sz="1100" b="0" i="0">
                <a:solidFill>
                  <a:srgbClr val="E6EDF3"/>
                </a:solidFill>
                <a:latin typeface="Consolas"/>
              </a:rPr>
              <a:t> Stores {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FF7B9C"/>
                </a:solidFill>
                <a:latin typeface="Consolas"/>
              </a:rPr>
              <a:t>    go </a:t>
            </a:r>
            <a:r>
              <a:rPr sz="1100" b="0" i="0">
                <a:solidFill>
                  <a:srgbClr val="35C7EB"/>
                </a:solidFill>
                <a:latin typeface="Consolas"/>
              </a:rPr>
              <a:t>scrapePrice</a:t>
            </a:r>
            <a:r>
              <a:rPr sz="1100" b="0" i="0">
                <a:solidFill>
                  <a:srgbClr val="E6EDF3"/>
                </a:solidFill>
                <a:latin typeface="Consolas"/>
              </a:rPr>
              <a:t>(s.Name, url, ch)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FF7B9C"/>
                </a:solidFill>
                <a:latin typeface="Consolas"/>
              </a:rPr>
              <a:t>select</a:t>
            </a:r>
            <a:r>
              <a:rPr sz="1100" b="0" i="0">
                <a:solidFill>
                  <a:srgbClr val="E6EDF3"/>
                </a:solidFill>
                <a:latin typeface="Consolas"/>
              </a:rPr>
              <a:t> {</a:t>
            </a:r>
            <a:r>
              <a:rPr sz="1100" b="0" i="0">
                <a:solidFill>
                  <a:srgbClr val="E6EDF3"/>
                </a:solidFill>
                <a:latin typeface="Consolas"/>
              </a:rPr>
              <a:t>                </a:t>
            </a:r>
            <a:r>
              <a:rPr sz="1100" b="0" i="0">
                <a:solidFill>
                  <a:srgbClr val="6B7D8C"/>
                </a:solidFill>
                <a:latin typeface="Consolas"/>
              </a:rPr>
              <a:t>// timeout nativo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FF7B9C"/>
                </a:solidFill>
                <a:latin typeface="Consolas"/>
              </a:rPr>
              <a:t>case</a:t>
            </a:r>
            <a:r>
              <a:rPr sz="1100" b="0" i="0">
                <a:solidFill>
                  <a:srgbClr val="E6EDF3"/>
                </a:solidFill>
                <a:latin typeface="Consolas"/>
              </a:rPr>
              <a:t> r := &lt;-done:     ch &lt;- r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FF7B9C"/>
                </a:solidFill>
                <a:latin typeface="Consolas"/>
              </a:rPr>
              <a:t>case</a:t>
            </a:r>
            <a:r>
              <a:rPr sz="1100" b="0" i="0">
                <a:solidFill>
                  <a:srgbClr val="E6EDF3"/>
                </a:solidFill>
                <a:latin typeface="Consolas"/>
              </a:rPr>
              <a:t> &lt;-time.</a:t>
            </a:r>
            <a:r>
              <a:rPr sz="1100" b="0" i="0">
                <a:solidFill>
                  <a:srgbClr val="35C7EB"/>
                </a:solidFill>
                <a:latin typeface="Consolas"/>
              </a:rPr>
              <a:t>After</a:t>
            </a:r>
            <a:r>
              <a:rPr sz="1100" b="0" i="0">
                <a:solidFill>
                  <a:srgbClr val="E6EDF3"/>
                </a:solidFill>
                <a:latin typeface="Consolas"/>
              </a:rPr>
              <a:t>(t): ch &lt;- Result{...}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3977639"/>
            <a:ext cx="6126480" cy="210312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23560" y="4087367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43016" y="4087367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62472" y="4087367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14215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0" i="0">
                <a:solidFill>
                  <a:srgbClr val="5C6B7A"/>
                </a:solidFill>
                <a:latin typeface="Consolas"/>
              </a:rPr>
              <a:t>C — biblioteca + sincronização à mão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0136" y="4343399"/>
            <a:ext cx="57607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 i="0">
                <a:solidFill>
                  <a:srgbClr val="6B7D8C"/>
                </a:solidFill>
                <a:latin typeface="Consolas"/>
              </a:rPr>
              <a:t>#include &lt;pthread.h&gt;   /* ~1MB por thread */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FF7B9C"/>
                </a:solidFill>
                <a:latin typeface="Consolas"/>
              </a:rPr>
              <a:t>for</a:t>
            </a:r>
            <a:r>
              <a:rPr sz="1100" b="0" i="0">
                <a:solidFill>
                  <a:srgbClr val="E6EDF3"/>
                </a:solidFill>
                <a:latin typeface="Consolas"/>
              </a:rPr>
              <a:t> (</a:t>
            </a:r>
            <a:r>
              <a:rPr sz="1100" b="0" i="0">
                <a:solidFill>
                  <a:srgbClr val="FF7B9C"/>
                </a:solidFill>
                <a:latin typeface="Consolas"/>
              </a:rPr>
              <a:t>int</a:t>
            </a:r>
            <a:r>
              <a:rPr sz="1100" b="0" i="0">
                <a:solidFill>
                  <a:srgbClr val="E6EDF3"/>
                </a:solidFill>
                <a:latin typeface="Consolas"/>
              </a:rPr>
              <a:t> i=0; i&lt;N; i++)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</a:t>
            </a:r>
            <a:r>
              <a:rPr sz="1100" b="0" i="0">
                <a:solidFill>
                  <a:srgbClr val="35C7EB"/>
                </a:solidFill>
                <a:latin typeface="Consolas"/>
              </a:rPr>
              <a:t>pthread_create</a:t>
            </a:r>
            <a:r>
              <a:rPr sz="1100" b="0" i="0">
                <a:solidFill>
                  <a:srgbClr val="E6EDF3"/>
                </a:solidFill>
                <a:latin typeface="Consolas"/>
              </a:rPr>
              <a:t>(&amp;th[i],NULL,scrape,&amp;a[i]);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35C7EB"/>
                </a:solidFill>
                <a:latin typeface="Consolas"/>
              </a:rPr>
              <a:t>pthread_join</a:t>
            </a:r>
            <a:r>
              <a:rPr sz="1100" b="0" i="0">
                <a:solidFill>
                  <a:srgbClr val="E6EDF3"/>
                </a:solidFill>
                <a:latin typeface="Consolas"/>
              </a:rPr>
              <a:t>(...);  </a:t>
            </a:r>
            <a:r>
              <a:rPr sz="1100" b="0" i="0">
                <a:solidFill>
                  <a:srgbClr val="35C7EB"/>
                </a:solidFill>
                <a:latin typeface="Consolas"/>
              </a:rPr>
              <a:t>pthread_mutex_lock</a:t>
            </a:r>
            <a:r>
              <a:rPr sz="1100" b="0" i="0">
                <a:solidFill>
                  <a:srgbClr val="E6EDF3"/>
                </a:solidFill>
                <a:latin typeface="Consolas"/>
              </a:rPr>
              <a:t>(&amp;mtx);</a:t>
            </a:r>
          </a:p>
          <a:p>
            <a:pPr>
              <a:lnSpc>
                <a:spcPct val="115000"/>
              </a:lnSpc>
            </a:pPr>
            <a:r>
              <a:rPr sz="1100" b="0" i="0">
                <a:solidFill>
                  <a:srgbClr val="6B7D8C"/>
                </a:solidFill>
                <a:latin typeface="Consolas"/>
              </a:rPr>
              <a:t>/* timeout? poll()/select() em fds — trabalhoso */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5C6B7A"/>
                </a:solidFill>
                <a:latin typeface="Consolas"/>
              </a:rPr>
              <a:t>Em Go: 3 palavras-chave (go, chan, select). Em C: biblioteca (pthreads) + mutex e timeout manuais.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20">
                <a:solidFill>
                  <a:srgbClr val="5C6B7A"/>
                </a:solidFill>
                <a:latin typeface="Consolas"/>
              </a:rPr>
              <a:t>05   </a:t>
            </a:r>
            <a:r>
              <a:rPr sz="1300" b="1" i="0" spc="220">
                <a:solidFill>
                  <a:srgbClr val="35C7EB"/>
                </a:solidFill>
                <a:latin typeface="Consolas"/>
              </a:rPr>
              <a:t>CRITÉRIO DE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35C7EB"/>
                </a:solidFill>
                <a:latin typeface="Segoe UI"/>
              </a:rPr>
              <a:t>Legibilidade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5720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45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450" b="1" i="0">
                <a:solidFill>
                  <a:srgbClr val="35C7EB"/>
                </a:solidFill>
                <a:latin typeface="Consolas"/>
              </a:rPr>
              <a:t>gofmt</a:t>
            </a:r>
            <a:r>
              <a:rPr sz="1450" b="0" i="0">
                <a:solidFill>
                  <a:srgbClr val="93A1B0"/>
                </a:solidFill>
                <a:latin typeface="Segoe UI"/>
              </a:rPr>
              <a:t> — formatador oficial. Um só jeito de escrever; sem debate de estilo.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450" b="1" i="0">
                <a:solidFill>
                  <a:srgbClr val="E6EDF3"/>
                </a:solidFill>
                <a:latin typeface="Segoe UI"/>
              </a:rPr>
              <a:t>25 palavras-chave</a:t>
            </a:r>
            <a:r>
              <a:rPr sz="1450" b="0" i="0">
                <a:solidFill>
                  <a:srgbClr val="93A1B0"/>
                </a:solidFill>
                <a:latin typeface="Segoe UI"/>
              </a:rPr>
              <a:t> — a linguagem inteira cabe na cabeça.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450" b="1" i="0">
                <a:solidFill>
                  <a:srgbClr val="35C7EB"/>
                </a:solidFill>
                <a:latin typeface="Consolas"/>
              </a:rPr>
              <a:t>if err != nil</a:t>
            </a:r>
            <a:r>
              <a:rPr sz="1450" b="0" i="0">
                <a:solidFill>
                  <a:srgbClr val="93A1B0"/>
                </a:solidFill>
                <a:latin typeface="Segoe UI"/>
              </a:rPr>
              <a:t> — erros explícitos; caminho de falha visível.</a:t>
            </a:r>
          </a:p>
          <a:p>
            <a:pPr>
              <a:spcAft>
                <a:spcPts val="1400"/>
              </a:spcAft>
            </a:pPr>
            <a:r>
              <a:rPr sz="145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450" b="1" i="0">
                <a:solidFill>
                  <a:srgbClr val="E6EDF3"/>
                </a:solidFill>
                <a:latin typeface="Segoe UI"/>
              </a:rPr>
              <a:t>Sem headers, macros ou pré-processador</a:t>
            </a:r>
            <a:r>
              <a:rPr sz="1450" b="0" i="0">
                <a:solidFill>
                  <a:srgbClr val="93A1B0"/>
                </a:solidFill>
                <a:latin typeface="Segoe UI"/>
              </a:rPr>
              <a:t> — o que se lê é o que executa.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874519"/>
            <a:ext cx="6126480" cy="1874519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23560" y="1984247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843016" y="1984247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62472" y="1984247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11095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0" i="0">
                <a:solidFill>
                  <a:srgbClr val="5C6B7A"/>
                </a:solidFill>
                <a:latin typeface="Consolas"/>
              </a:rPr>
              <a:t>Go — net/http + encoding/json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0136" y="2240279"/>
            <a:ext cx="576072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E6EDF3"/>
                </a:solidFill>
                <a:latin typeface="Consolas"/>
              </a:rPr>
              <a:t>resp, err := http.</a:t>
            </a:r>
            <a:r>
              <a:rPr sz="1150" b="0" i="0">
                <a:solidFill>
                  <a:srgbClr val="35C7EB"/>
                </a:solidFill>
                <a:latin typeface="Consolas"/>
              </a:rPr>
              <a:t>Get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(url)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FF7B9C"/>
                </a:solidFill>
                <a:latin typeface="Consolas"/>
              </a:rPr>
              <a:t>if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 err != </a:t>
            </a:r>
            <a:r>
              <a:rPr sz="1150" b="0" i="0">
                <a:solidFill>
                  <a:srgbClr val="E2B341"/>
                </a:solidFill>
                <a:latin typeface="Consolas"/>
              </a:rPr>
              <a:t>nil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 { </a:t>
            </a:r>
            <a:r>
              <a:rPr sz="1150" b="0" i="0">
                <a:solidFill>
                  <a:srgbClr val="FF7B9C"/>
                </a:solidFill>
                <a:latin typeface="Consolas"/>
              </a:rPr>
              <a:t>return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 err }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FF7B9C"/>
                </a:solidFill>
                <a:latin typeface="Consolas"/>
              </a:rPr>
              <a:t>defer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 resp.Body.</a:t>
            </a:r>
            <a:r>
              <a:rPr sz="1150" b="0" i="0">
                <a:solidFill>
                  <a:srgbClr val="35C7EB"/>
                </a:solidFill>
                <a:latin typeface="Consolas"/>
              </a:rPr>
              <a:t>Close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()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E6EDF3"/>
                </a:solidFill>
                <a:latin typeface="Consolas"/>
              </a:rPr>
              <a:t>json.</a:t>
            </a:r>
            <a:r>
              <a:rPr sz="1150" b="0" i="0">
                <a:solidFill>
                  <a:srgbClr val="35C7EB"/>
                </a:solidFill>
                <a:latin typeface="Consolas"/>
              </a:rPr>
              <a:t>NewDecoder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(resp.Body).</a:t>
            </a:r>
            <a:r>
              <a:rPr sz="1150" b="0" i="0">
                <a:solidFill>
                  <a:srgbClr val="35C7EB"/>
                </a:solidFill>
                <a:latin typeface="Consolas"/>
              </a:rPr>
              <a:t>Decode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(&amp;data)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3886200"/>
            <a:ext cx="6126480" cy="219456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23560" y="3995928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43016" y="3995928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62472" y="3995928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22776"/>
            <a:ext cx="5029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0" i="0">
                <a:solidFill>
                  <a:srgbClr val="5C6B7A"/>
                </a:solidFill>
                <a:latin typeface="Consolas"/>
              </a:rPr>
              <a:t>C — libcurl + parser JSON externo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0136" y="4251960"/>
            <a:ext cx="5760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 i="0">
                <a:solidFill>
                  <a:srgbClr val="6B7D8C"/>
                </a:solidFill>
                <a:latin typeface="Consolas"/>
              </a:rPr>
              <a:t>#include &lt;curl/curl.h&gt;   /* dependência ext. */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E6EDF3"/>
                </a:solidFill>
                <a:latin typeface="Consolas"/>
              </a:rPr>
              <a:t>CURL *c = </a:t>
            </a:r>
            <a:r>
              <a:rPr sz="1150" b="0" i="0">
                <a:solidFill>
                  <a:srgbClr val="35C7EB"/>
                </a:solidFill>
                <a:latin typeface="Consolas"/>
              </a:rPr>
              <a:t>curl_easy_init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();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35C7EB"/>
                </a:solidFill>
                <a:latin typeface="Consolas"/>
              </a:rPr>
              <a:t>curl_easy_setopt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(c, CURLOPT_URL, url);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FF7B9C"/>
                </a:solidFill>
                <a:latin typeface="Consolas"/>
              </a:rPr>
              <a:t>if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 (</a:t>
            </a:r>
            <a:r>
              <a:rPr sz="1150" b="0" i="0">
                <a:solidFill>
                  <a:srgbClr val="35C7EB"/>
                </a:solidFill>
                <a:latin typeface="Consolas"/>
              </a:rPr>
              <a:t>curl_easy_perform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(c)!=CURLE_OK){...}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35C7EB"/>
                </a:solidFill>
                <a:latin typeface="Consolas"/>
              </a:rPr>
              <a:t>curl_easy_cleanup</a:t>
            </a:r>
            <a:r>
              <a:rPr sz="1150" b="0" i="0">
                <a:solidFill>
                  <a:srgbClr val="E6EDF3"/>
                </a:solidFill>
                <a:latin typeface="Consolas"/>
              </a:rPr>
              <a:t>(c);</a:t>
            </a:r>
          </a:p>
          <a:p>
            <a:pPr>
              <a:lnSpc>
                <a:spcPct val="115000"/>
              </a:lnSpc>
            </a:pPr>
            <a:r>
              <a:rPr sz="1150" b="0" i="0">
                <a:solidFill>
                  <a:srgbClr val="6B7D8C"/>
                </a:solidFill>
                <a:latin typeface="Consolas"/>
              </a:rPr>
              <a:t>/* + cJSON à parte só p/ LER o JSON */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5C6B7A"/>
                </a:solidFill>
                <a:latin typeface="Consolas"/>
              </a:rPr>
              <a:t>A mesma tarefa: 4 linhas em Go com a biblioteca padrão × libcurl + parser externo em 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20">
                <a:solidFill>
                  <a:srgbClr val="5C6B7A"/>
                </a:solidFill>
                <a:latin typeface="Consolas"/>
              </a:rPr>
              <a:t>06   </a:t>
            </a:r>
            <a:r>
              <a:rPr sz="1300" b="1" i="0" spc="220">
                <a:solidFill>
                  <a:srgbClr val="35C7EB"/>
                </a:solidFill>
                <a:latin typeface="Consolas"/>
              </a:rPr>
              <a:t>CRITÉRIO DE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35C7EB"/>
                </a:solidFill>
                <a:latin typeface="Segoe UI"/>
              </a:rPr>
              <a:t>Capacidade de escrita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066544"/>
            <a:ext cx="4992624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 spc="120">
                <a:solidFill>
                  <a:srgbClr val="35C7EB"/>
                </a:solidFill>
                <a:latin typeface="Consolas"/>
              </a:rPr>
              <a:t>NET/HTTP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Cliente HTTP embutido</a:t>
            </a:r>
          </a:p>
          <a:p>
            <a:r>
              <a:rPr sz="1150" b="0" i="0">
                <a:solidFill>
                  <a:srgbClr val="93A1B0"/>
                </a:solidFill>
                <a:latin typeface="Segoe UI"/>
              </a:rPr>
              <a:t>http.Get(url) e pronto. Em C: libcurl (dependência externa) + configuração manual.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0528" y="2066544"/>
            <a:ext cx="4992624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 spc="120">
                <a:solidFill>
                  <a:srgbClr val="35C7EB"/>
                </a:solidFill>
                <a:latin typeface="Consolas"/>
              </a:rPr>
              <a:t>ENCODING/JSON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JSON → struct direto</a:t>
            </a:r>
          </a:p>
          <a:p>
            <a:r>
              <a:rPr sz="1150" b="0" i="0">
                <a:solidFill>
                  <a:srgbClr val="93A1B0"/>
                </a:solidFill>
                <a:latin typeface="Segoe UI"/>
              </a:rPr>
              <a:t>Decodifica em tipos com tags. Em C não há JSON nativo — cJSON/jansson.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30752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877056"/>
            <a:ext cx="4992624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 spc="120">
                <a:solidFill>
                  <a:srgbClr val="35C7EB"/>
                </a:solidFill>
                <a:latin typeface="Consolas"/>
              </a:rPr>
              <a:t>GO · CHAN · SELECT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Concorrência de 1ª classe</a:t>
            </a:r>
          </a:p>
          <a:p>
            <a:r>
              <a:rPr sz="1150" b="0" i="0">
                <a:solidFill>
                  <a:srgbClr val="93A1B0"/>
                </a:solidFill>
                <a:latin typeface="Segoe UI"/>
              </a:rPr>
              <a:t>Sem pthread_create, mutex e join manuais como em 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730752"/>
            <a:ext cx="5394960" cy="15544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3877056"/>
            <a:ext cx="4992624" cy="1261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 spc="120">
                <a:solidFill>
                  <a:srgbClr val="3FB950"/>
                </a:solidFill>
                <a:latin typeface="Consolas"/>
              </a:rPr>
              <a:t>GOOS=WINDOWS GO BUILD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E6EDF3"/>
                </a:solidFill>
                <a:latin typeface="Segoe UI"/>
              </a:rPr>
              <a:t>Cross-compilation trivial</a:t>
            </a:r>
          </a:p>
          <a:p>
            <a:r>
              <a:rPr sz="1150" b="0" i="0">
                <a:solidFill>
                  <a:srgbClr val="93A1B0"/>
                </a:solidFill>
                <a:latin typeface="Segoe UI"/>
              </a:rPr>
              <a:t>Comprovado no teste: binário Windows gerado a partir do Linux, num comando.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5C6B7A"/>
                </a:solidFill>
                <a:latin typeface="Consolas"/>
              </a:rPr>
              <a:t>A biblioteca padrão de Go já traz HTTP, JSON e concorrência — em C, tudo isso é dependência externa.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20">
                <a:solidFill>
                  <a:srgbClr val="5C6B7A"/>
                </a:solidFill>
                <a:latin typeface="Consolas"/>
              </a:rPr>
              <a:t>07   </a:t>
            </a:r>
            <a:r>
              <a:rPr sz="1300" b="1" i="0" spc="220">
                <a:solidFill>
                  <a:srgbClr val="35C7EB"/>
                </a:solidFill>
                <a:latin typeface="Consolas"/>
              </a:rPr>
              <a:t>CRITÉRIO DE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35C7EB"/>
                </a:solidFill>
                <a:latin typeface="Segoe UI"/>
              </a:rPr>
              <a:t>Confiabilidade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46634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400" b="1" i="0">
                <a:solidFill>
                  <a:srgbClr val="E6EDF3"/>
                </a:solidFill>
                <a:latin typeface="Segoe UI"/>
              </a:rPr>
              <a:t>Garbage collector</a:t>
            </a:r>
            <a:r>
              <a:rPr sz="1400" b="0" i="0">
                <a:solidFill>
                  <a:srgbClr val="93A1B0"/>
                </a:solidFill>
                <a:latin typeface="Segoe UI"/>
              </a:rPr>
              <a:t> — sem malloc/free. Adeus use-after-free e vazamentos.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400" b="1" i="0">
                <a:solidFill>
                  <a:srgbClr val="E6EDF3"/>
                </a:solidFill>
                <a:latin typeface="Segoe UI"/>
              </a:rPr>
              <a:t>Sem ponteiro inseguro</a:t>
            </a:r>
            <a:r>
              <a:rPr sz="1400" b="0" i="0">
                <a:solidFill>
                  <a:srgbClr val="93A1B0"/>
                </a:solidFill>
                <a:latin typeface="Segoe UI"/>
              </a:rPr>
              <a:t> — nada de estourar buffer por acidente.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400" b="1" i="0">
                <a:solidFill>
                  <a:srgbClr val="E6EDF3"/>
                </a:solidFill>
                <a:latin typeface="Segoe UI"/>
              </a:rPr>
              <a:t>Tipagem estática forte</a:t>
            </a:r>
            <a:r>
              <a:rPr sz="1400" b="0" i="0">
                <a:solidFill>
                  <a:srgbClr val="93A1B0"/>
                </a:solidFill>
                <a:latin typeface="Segoe UI"/>
              </a:rPr>
              <a:t> — erros pegos na compilação.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400" b="1" i="0">
                <a:solidFill>
                  <a:srgbClr val="35C7EB"/>
                </a:solidFill>
                <a:latin typeface="Consolas"/>
              </a:rPr>
              <a:t>go run -race</a:t>
            </a:r>
            <a:r>
              <a:rPr sz="1400" b="0" i="0">
                <a:solidFill>
                  <a:srgbClr val="93A1B0"/>
                </a:solidFill>
                <a:latin typeface="Segoe UI"/>
              </a:rPr>
              <a:t> — detector de corridas embutido.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35C7EB"/>
                </a:solidFill>
                <a:latin typeface="Consolas"/>
              </a:rPr>
              <a:t>›  </a:t>
            </a:r>
            <a:r>
              <a:rPr sz="1400" b="1" i="0">
                <a:solidFill>
                  <a:srgbClr val="E6EDF3"/>
                </a:solidFill>
                <a:latin typeface="Segoe UI"/>
              </a:rPr>
              <a:t>Canal com buffer 1</a:t>
            </a:r>
            <a:r>
              <a:rPr sz="1400" b="0" i="0">
                <a:solidFill>
                  <a:srgbClr val="93A1B0"/>
                </a:solidFill>
                <a:latin typeface="Segoe UI"/>
              </a:rPr>
              <a:t> — evita goroutine leak se o timeout vencer.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577840" y="1874519"/>
          <a:ext cx="598932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31720"/>
                <a:gridCol w="2103120"/>
              </a:tblGrid>
              <a:tr h="56692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93A1B0"/>
                          </a:solidFill>
                          <a:latin typeface="Consolas"/>
                        </a:rPr>
                        <a:t>Risco</a:t>
                      </a:r>
                    </a:p>
                  </a:txBody>
                  <a:tcPr marL="91440" marR="45720" marT="36576" marB="36576" anchor="ctr">
                    <a:solidFill>
                      <a:srgbClr val="1C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35C7EB"/>
                          </a:solidFill>
                          <a:latin typeface="Consolas"/>
                        </a:rPr>
                        <a:t>Go</a:t>
                      </a:r>
                    </a:p>
                  </a:txBody>
                  <a:tcPr marL="91440" marR="45720" marT="36576" marB="36576" anchor="ctr">
                    <a:solidFill>
                      <a:srgbClr val="1C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D29922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91440" marR="45720" marT="36576" marB="36576" anchor="ctr">
                    <a:solidFill>
                      <a:srgbClr val="1C232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E6EDF3"/>
                          </a:solidFill>
                          <a:latin typeface="Segoe UI"/>
                        </a:rPr>
                        <a:t>Memória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E6EDF3"/>
                          </a:solidFill>
                          <a:latin typeface="Segoe UI"/>
                        </a:rPr>
                        <a:t>GC automático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B0"/>
                          </a:solidFill>
                          <a:latin typeface="Segoe UI"/>
                        </a:rPr>
                        <a:t>malloc/free manual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E6EDF3"/>
                          </a:solidFill>
                          <a:latin typeface="Segoe UI"/>
                        </a:rPr>
                        <a:t>Ponteiro solto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E6EDF3"/>
                          </a:solidFill>
                          <a:latin typeface="Segoe UI"/>
                        </a:rPr>
                        <a:t>não existe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B0"/>
                          </a:solidFill>
                          <a:latin typeface="Segoe UI"/>
                        </a:rPr>
                        <a:t>dangling &amp; double-free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E6EDF3"/>
                          </a:solidFill>
                          <a:latin typeface="Segoe UI"/>
                        </a:rPr>
                        <a:t>Buffer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E6EDF3"/>
                          </a:solidFill>
                          <a:latin typeface="Segoe UI"/>
                        </a:rPr>
                        <a:t>checagem de limites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B0"/>
                          </a:solidFill>
                          <a:latin typeface="Segoe UI"/>
                        </a:rPr>
                        <a:t>overflow silencioso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E6EDF3"/>
                          </a:solidFill>
                          <a:latin typeface="Segoe UI"/>
                        </a:rPr>
                        <a:t>Corrida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E6EDF3"/>
                          </a:solidFill>
                          <a:latin typeface="Segoe UI"/>
                        </a:rPr>
                        <a:t>go -race detecta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B0"/>
                          </a:solidFill>
                          <a:latin typeface="Segoe UI"/>
                        </a:rPr>
                        <a:t>sem detector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E6EDF3"/>
                          </a:solidFill>
                          <a:latin typeface="Segoe UI"/>
                        </a:rPr>
                        <a:t>Falha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E6EDF3"/>
                          </a:solidFill>
                          <a:latin typeface="Segoe UI"/>
                        </a:rPr>
                        <a:t>panic explícito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B0"/>
                          </a:solidFill>
                          <a:latin typeface="Segoe UI"/>
                        </a:rPr>
                        <a:t>undefined behavior</a:t>
                      </a:r>
                    </a:p>
                  </a:txBody>
                  <a:tcPr marL="91440" marR="45720" marT="36576" marB="36576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20">
                <a:solidFill>
                  <a:srgbClr val="5C6B7A"/>
                </a:solidFill>
                <a:latin typeface="Consolas"/>
              </a:rPr>
              <a:t>08   </a:t>
            </a:r>
            <a:r>
              <a:rPr sz="1300" b="1" i="0" spc="220">
                <a:solidFill>
                  <a:srgbClr val="35C7EB"/>
                </a:solidFill>
                <a:latin typeface="Consolas"/>
              </a:rPr>
              <a:t>CRITÉRIO DE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E6EDF3"/>
                </a:solidFill>
                <a:latin typeface="Segoe UI"/>
              </a:rPr>
              <a:t>Custo </a:t>
            </a:r>
            <a:r>
              <a:rPr sz="4000" b="1" i="0">
                <a:solidFill>
                  <a:srgbClr val="35C7EB"/>
                </a:solidFill>
                <a:latin typeface="Segoe UI"/>
              </a:rPr>
              <a:t>e outros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97480" cy="12801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75104"/>
            <a:ext cx="2295144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35C7EB"/>
                </a:solidFill>
                <a:latin typeface="Consolas"/>
              </a:rPr>
              <a:t>R$0</a:t>
            </a:r>
          </a:p>
          <a:p>
            <a:r>
              <a:rPr sz="1100" b="0" i="0">
                <a:solidFill>
                  <a:srgbClr val="93A1B0"/>
                </a:solidFill>
                <a:latin typeface="Segoe UI"/>
              </a:rPr>
              <a:t>licença BSD — open source, gratuito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1828800"/>
            <a:ext cx="2697480" cy="12801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58184" y="1975104"/>
            <a:ext cx="2295144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35C7EB"/>
                </a:solidFill>
                <a:latin typeface="Consolas"/>
              </a:rPr>
              <a:t>~2 KB</a:t>
            </a:r>
          </a:p>
          <a:p>
            <a:r>
              <a:rPr sz="1100" b="0" i="0">
                <a:solidFill>
                  <a:srgbClr val="93A1B0"/>
                </a:solidFill>
                <a:latin typeface="Segoe UI"/>
              </a:rPr>
              <a:t>por goroutine, contra ~1 MB por thread do 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3952" y="1828800"/>
            <a:ext cx="2697480" cy="12801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975104"/>
            <a:ext cx="2295144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35C7EB"/>
                </a:solidFill>
                <a:latin typeface="Consolas"/>
              </a:rPr>
              <a:t>1</a:t>
            </a:r>
          </a:p>
          <a:p>
            <a:r>
              <a:rPr sz="1100" b="0" i="0">
                <a:solidFill>
                  <a:srgbClr val="93A1B0"/>
                </a:solidFill>
                <a:latin typeface="Segoe UI"/>
              </a:rPr>
              <a:t>binário estático único — copiar e rodar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90888" y="1828800"/>
            <a:ext cx="2697480" cy="12801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92056" y="1975104"/>
            <a:ext cx="2295144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35C7EB"/>
                </a:solidFill>
                <a:latin typeface="Consolas"/>
              </a:rPr>
              <a:t>seg</a:t>
            </a:r>
          </a:p>
          <a:p>
            <a:r>
              <a:rPr sz="1100" b="0" i="0">
                <a:solidFill>
                  <a:srgbClr val="93A1B0"/>
                </a:solidFill>
                <a:latin typeface="Segoe UI"/>
              </a:rPr>
              <a:t>compilação rápida por design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337560"/>
          <a:ext cx="109270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892040"/>
                <a:gridCol w="4023360"/>
              </a:tblGrid>
              <a:tr h="475488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93A1B0"/>
                          </a:solidFill>
                          <a:latin typeface="Consolas"/>
                        </a:rPr>
                        <a:t>Fator</a:t>
                      </a:r>
                    </a:p>
                  </a:txBody>
                  <a:tcPr marL="91440" marT="27432" marB="27432" anchor="ctr">
                    <a:solidFill>
                      <a:srgbClr val="1C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35C7EB"/>
                          </a:solidFill>
                          <a:latin typeface="Consolas"/>
                        </a:rPr>
                        <a:t>Go</a:t>
                      </a:r>
                    </a:p>
                  </a:txBody>
                  <a:tcPr marL="91440" marT="27432" marB="27432" anchor="ctr">
                    <a:solidFill>
                      <a:srgbClr val="1C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D29922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91440" marT="27432" marB="27432" anchor="ctr">
                    <a:solidFill>
                      <a:srgbClr val="1C232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E6EDF3"/>
                          </a:solidFill>
                          <a:latin typeface="Segoe UI"/>
                        </a:rPr>
                        <a:t>Tooling</a:t>
                      </a:r>
                    </a:p>
                  </a:txBody>
                  <a:tcPr marL="91440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E6EDF3"/>
                          </a:solidFill>
                          <a:latin typeface="Segoe UI"/>
                        </a:rPr>
                        <a:t>build/test/fmt/mod no mesmo toolchain</a:t>
                      </a:r>
                    </a:p>
                  </a:txBody>
                  <a:tcPr marL="91440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3A1B0"/>
                          </a:solidFill>
                          <a:latin typeface="Segoe UI"/>
                        </a:rPr>
                        <a:t>make + ferramentas soltas</a:t>
                      </a:r>
                    </a:p>
                  </a:txBody>
                  <a:tcPr marL="91440" marT="27432" marB="27432" anchor="ctr"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E6EDF3"/>
                          </a:solidFill>
                          <a:latin typeface="Segoe UI"/>
                        </a:rPr>
                        <a:t>Portabilidade</a:t>
                      </a:r>
                    </a:p>
                  </a:txBody>
                  <a:tcPr marL="91440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E6EDF3"/>
                          </a:solidFill>
                          <a:latin typeface="Segoe UI"/>
                        </a:rPr>
                        <a:t>um comando cruza p/ Win/Mac/Linux</a:t>
                      </a:r>
                    </a:p>
                  </a:txBody>
                  <a:tcPr marL="91440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3A1B0"/>
                          </a:solidFill>
                          <a:latin typeface="Segoe UI"/>
                        </a:rPr>
                        <a:t>toolchain por alvo; #ifdef por SO</a:t>
                      </a:r>
                    </a:p>
                  </a:txBody>
                  <a:tcPr marL="91440" marT="27432" marB="27432" anchor="ctr"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E6EDF3"/>
                          </a:solidFill>
                          <a:latin typeface="Segoe UI"/>
                        </a:rPr>
                        <a:t>Implantação</a:t>
                      </a:r>
                    </a:p>
                  </a:txBody>
                  <a:tcPr marL="91440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E6EDF3"/>
                          </a:solidFill>
                          <a:latin typeface="Segoe UI"/>
                        </a:rPr>
                        <a:t>binário estático → contêiner de MBs</a:t>
                      </a:r>
                    </a:p>
                  </a:txBody>
                  <a:tcPr marL="91440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3A1B0"/>
                          </a:solidFill>
                          <a:latin typeface="Segoe UI"/>
                        </a:rPr>
                        <a:t>gerenciar libs dinâmicas</a:t>
                      </a:r>
                    </a:p>
                  </a:txBody>
                  <a:tcPr marL="91440" marT="27432" marB="27432" anchor="ctr">
                    <a:solidFill>
                      <a:srgbClr val="161B2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E6EDF3"/>
                          </a:solidFill>
                          <a:latin typeface="Segoe UI"/>
                        </a:rPr>
                        <a:t>Manutenção</a:t>
                      </a:r>
                    </a:p>
                  </a:txBody>
                  <a:tcPr marL="91440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E6EDF3"/>
                          </a:solidFill>
                          <a:latin typeface="Segoe UI"/>
                        </a:rPr>
                        <a:t>promessa de compat. do Go 1</a:t>
                      </a:r>
                    </a:p>
                  </a:txBody>
                  <a:tcPr marL="91440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3A1B0"/>
                          </a:solidFill>
                          <a:latin typeface="Segoe UI"/>
                        </a:rPr>
                        <a:t>estável, mas UB cobra depois</a:t>
                      </a:r>
                    </a:p>
                  </a:txBody>
                  <a:tcPr marL="91440" marT="27432" marB="27432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5C6B7A"/>
                </a:solidFill>
                <a:latin typeface="Consolas"/>
              </a:rPr>
              <a:t>Trade-off honesto: o GC troca controle fino por segurança. Em tempo-real duro e embarcado, C ainda ganha.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20">
                <a:solidFill>
                  <a:srgbClr val="5C6B7A"/>
                </a:solidFill>
                <a:latin typeface="Consolas"/>
              </a:rPr>
              <a:t>09   </a:t>
            </a:r>
            <a:r>
              <a:rPr sz="1300" b="1" i="0" spc="220">
                <a:solidFill>
                  <a:srgbClr val="35C7EB"/>
                </a:solidFill>
                <a:latin typeface="Consolas"/>
              </a:rPr>
              <a:t>CÓDIGO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35C7EB"/>
                </a:solidFill>
                <a:latin typeface="Segoe UI"/>
              </a:rPr>
              <a:t>Exemplos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927080" cy="32004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938528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6" y="1938528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1872" y="1938528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865376"/>
            <a:ext cx="9829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0" i="0">
                <a:solidFill>
                  <a:srgbClr val="5C6B7A"/>
                </a:solidFill>
                <a:latin typeface="Consolas"/>
              </a:rPr>
              <a:t>webscraper/main.go — disparar · esperar · coletar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94560"/>
            <a:ext cx="10561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 i="0">
                <a:solidFill>
                  <a:srgbClr val="6B7D8C"/>
                </a:solidFill>
                <a:latin typeface="Consolas"/>
              </a:rPr>
              <a:t>// 1. canal com buffer: goroutines enviam sem travar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6EDF3"/>
                </a:solidFill>
                <a:latin typeface="Consolas"/>
              </a:rPr>
              <a:t>ch := </a:t>
            </a:r>
            <a:r>
              <a:rPr sz="1250" b="0" i="0">
                <a:solidFill>
                  <a:srgbClr val="35C7EB"/>
                </a:solidFill>
                <a:latin typeface="Consolas"/>
              </a:rPr>
              <a:t>make</a:t>
            </a:r>
            <a:r>
              <a:rPr sz="1250" b="0" i="0">
                <a:solidFill>
                  <a:srgbClr val="E6EDF3"/>
                </a:solidFill>
                <a:latin typeface="Consolas"/>
              </a:rPr>
              <a:t>(</a:t>
            </a:r>
            <a:r>
              <a:rPr sz="1250" b="0" i="0">
                <a:solidFill>
                  <a:srgbClr val="FF7B9C"/>
                </a:solidFill>
                <a:latin typeface="Consolas"/>
              </a:rPr>
              <a:t>chan</a:t>
            </a:r>
            <a:r>
              <a:rPr sz="1250" b="0" i="0">
                <a:solidFill>
                  <a:srgbClr val="E6EDF3"/>
                </a:solidFill>
                <a:latin typeface="Consolas"/>
              </a:rPr>
              <a:t> Result, </a:t>
            </a:r>
            <a:r>
              <a:rPr sz="1250" b="0" i="0">
                <a:solidFill>
                  <a:srgbClr val="35C7EB"/>
                </a:solidFill>
                <a:latin typeface="Consolas"/>
              </a:rPr>
              <a:t>len</a:t>
            </a:r>
            <a:r>
              <a:rPr sz="1250" b="0" i="0">
                <a:solidFill>
                  <a:srgbClr val="E6EDF3"/>
                </a:solidFill>
                <a:latin typeface="Consolas"/>
              </a:rPr>
              <a:t>(mock.Stores))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6B7D8C"/>
                </a:solidFill>
                <a:latin typeface="Consolas"/>
              </a:rPr>
              <a:t>// 2. dispara TODAS as lojas ao mesmo tempo — uma goroutine cada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FF7B9C"/>
                </a:solidFill>
                <a:latin typeface="Consolas"/>
              </a:rPr>
              <a:t>for</a:t>
            </a:r>
            <a:r>
              <a:rPr sz="1250" b="0" i="0">
                <a:solidFill>
                  <a:srgbClr val="E6EDF3"/>
                </a:solidFill>
                <a:latin typeface="Consolas"/>
              </a:rPr>
              <a:t> _, store := </a:t>
            </a:r>
            <a:r>
              <a:rPr sz="1250" b="0" i="0">
                <a:solidFill>
                  <a:srgbClr val="FF7B9C"/>
                </a:solidFill>
                <a:latin typeface="Consolas"/>
              </a:rPr>
              <a:t>range</a:t>
            </a:r>
            <a:r>
              <a:rPr sz="1250" b="0" i="0">
                <a:solidFill>
                  <a:srgbClr val="E6EDF3"/>
                </a:solidFill>
                <a:latin typeface="Consolas"/>
              </a:rPr>
              <a:t> mock.Stores {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FF7B9C"/>
                </a:solidFill>
                <a:latin typeface="Consolas"/>
              </a:rPr>
              <a:t>    go </a:t>
            </a:r>
            <a:r>
              <a:rPr sz="1250" b="0" i="0">
                <a:solidFill>
                  <a:srgbClr val="35C7EB"/>
                </a:solidFill>
                <a:latin typeface="Consolas"/>
              </a:rPr>
              <a:t>scrapePrice</a:t>
            </a:r>
            <a:r>
              <a:rPr sz="1250" b="0" i="0">
                <a:solidFill>
                  <a:srgbClr val="E6EDF3"/>
                </a:solidFill>
                <a:latin typeface="Consolas"/>
              </a:rPr>
              <a:t>(store.Name, url, ch)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6EDF3"/>
                </a:solidFill>
                <a:latin typeface="Consolas"/>
              </a:rPr>
              <a:t>}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6B7D8C"/>
                </a:solidFill>
                <a:latin typeface="Consolas"/>
              </a:rPr>
              <a:t>// 3. coleta pelo canal — a ordem é a VELOCIDADE da loja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FF7B9C"/>
                </a:solidFill>
                <a:latin typeface="Consolas"/>
              </a:rPr>
              <a:t>for</a:t>
            </a:r>
            <a:r>
              <a:rPr sz="1250" b="0" i="0">
                <a:solidFill>
                  <a:srgbClr val="E6EDF3"/>
                </a:solidFill>
                <a:latin typeface="Consolas"/>
              </a:rPr>
              <a:t> </a:t>
            </a:r>
            <a:r>
              <a:rPr sz="1250" b="0" i="0">
                <a:solidFill>
                  <a:srgbClr val="FF7B9C"/>
                </a:solidFill>
                <a:latin typeface="Consolas"/>
              </a:rPr>
              <a:t>range</a:t>
            </a:r>
            <a:r>
              <a:rPr sz="1250" b="0" i="0">
                <a:solidFill>
                  <a:srgbClr val="E6EDF3"/>
                </a:solidFill>
                <a:latin typeface="Consolas"/>
              </a:rPr>
              <a:t> mock.Stores {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6EDF3"/>
                </a:solidFill>
                <a:latin typeface="Consolas"/>
              </a:rPr>
              <a:t>    r := &lt;-ch          </a:t>
            </a:r>
            <a:r>
              <a:rPr sz="1250" b="0" i="0">
                <a:solidFill>
                  <a:srgbClr val="6B7D8C"/>
                </a:solidFill>
                <a:latin typeface="Consolas"/>
              </a:rPr>
              <a:t>// bloqueia até qualquer goroutine enviar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6EDF3"/>
                </a:solidFill>
                <a:latin typeface="Consolas"/>
              </a:rPr>
              <a:t>    results = </a:t>
            </a:r>
            <a:r>
              <a:rPr sz="1250" b="0" i="0">
                <a:solidFill>
                  <a:srgbClr val="35C7EB"/>
                </a:solidFill>
                <a:latin typeface="Consolas"/>
              </a:rPr>
              <a:t>append</a:t>
            </a:r>
            <a:r>
              <a:rPr sz="1250" b="0" i="0">
                <a:solidFill>
                  <a:srgbClr val="E6EDF3"/>
                </a:solidFill>
                <a:latin typeface="Consolas"/>
              </a:rPr>
              <a:t>(results, r)</a:t>
            </a:r>
          </a:p>
          <a:p>
            <a:pPr>
              <a:lnSpc>
                <a:spcPct val="115000"/>
              </a:lnSpc>
            </a:pPr>
            <a:r>
              <a:rPr sz="1250" b="0" i="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5C6B7A"/>
                </a:solidFill>
                <a:latin typeface="Consolas"/>
              </a:rPr>
              <a:t>Três ideias — disparar, esperar, coletar — resolvem o que em C exigiria dezenas de linhas de pthreads.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20">
                <a:solidFill>
                  <a:srgbClr val="5C6B7A"/>
                </a:solidFill>
                <a:latin typeface="Consolas"/>
              </a:rPr>
              <a:t>10   </a:t>
            </a:r>
            <a:r>
              <a:rPr sz="1300" b="1" i="0" spc="220">
                <a:solidFill>
                  <a:srgbClr val="35C7EB"/>
                </a:solidFill>
                <a:latin typeface="Consolas"/>
              </a:rPr>
              <a:t>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E6EDF3"/>
                </a:solidFill>
                <a:latin typeface="Segoe UI"/>
              </a:rPr>
              <a:t>Demonstração: </a:t>
            </a:r>
            <a:r>
              <a:rPr sz="3400" b="1" i="0">
                <a:solidFill>
                  <a:srgbClr val="35C7EB"/>
                </a:solidFill>
                <a:latin typeface="Segoe UI"/>
              </a:rPr>
              <a:t>execução concorrente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927080" cy="283464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938528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6" y="1938528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1872" y="1938528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865376"/>
            <a:ext cx="9829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0" i="0">
                <a:solidFill>
                  <a:srgbClr val="5C6B7A"/>
                </a:solidFill>
                <a:latin typeface="Consolas"/>
              </a:rPr>
              <a:t>$ ./webscraper — execução real medida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94560"/>
            <a:ext cx="105613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i="0">
                <a:solidFill>
                  <a:srgbClr val="3FB950"/>
                </a:solidFill>
                <a:latin typeface="Consolas"/>
              </a:rPr>
              <a:t>✓  KaBuM!          R$ 1280.00  [###----------------]  0.39s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3FB950"/>
                </a:solidFill>
                <a:latin typeface="Consolas"/>
              </a:rPr>
              <a:t>✓  Magazine Luiza  R$ 1279.90  [####---------------]  0.54s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3FB950"/>
                </a:solidFill>
                <a:latin typeface="Consolas"/>
              </a:rPr>
              <a:t>✓  Shopee          R$ 1199.00  [#######------------]  0.87s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3FB950"/>
                </a:solidFill>
                <a:latin typeface="Consolas"/>
              </a:rPr>
              <a:t>✓  Mercado Livre   R$ 1249.00  [############-------]  1.42s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D29922"/>
                </a:solidFill>
                <a:latin typeface="Consolas"/>
              </a:rPr>
              <a:t>!  AliExpress      TIMEOUT      [###################]  2.50s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D29922"/>
                </a:solidFill>
                <a:latin typeface="Consolas"/>
              </a:rPr>
              <a:t>!  Carrefour       TIMEOUT      [###################]  2.50s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35C7EB"/>
                </a:solidFill>
                <a:latin typeface="Consolas"/>
              </a:rPr>
              <a:t>Concorrente 2.50s  ·  Serial 10.90s  ·  Speedup 4.4x  ·  2 timeouts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92040"/>
            <a:ext cx="352044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038344"/>
            <a:ext cx="311810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3FB950"/>
                </a:solidFill>
                <a:latin typeface="Consolas"/>
              </a:rPr>
              <a:t>4.4×</a:t>
            </a:r>
          </a:p>
          <a:p>
            <a:r>
              <a:rPr sz="1100" b="0" i="0">
                <a:solidFill>
                  <a:srgbClr val="93A1B0"/>
                </a:solidFill>
                <a:latin typeface="Segoe UI"/>
              </a:rPr>
              <a:t>mais rápido que loja por loja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892040"/>
            <a:ext cx="352044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5038344"/>
            <a:ext cx="311810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35C7EB"/>
                </a:solidFill>
                <a:latin typeface="Consolas"/>
              </a:rPr>
              <a:t>2.50s</a:t>
            </a:r>
          </a:p>
          <a:p>
            <a:r>
              <a:rPr sz="1100" b="0" i="0">
                <a:solidFill>
                  <a:srgbClr val="93A1B0"/>
                </a:solidFill>
                <a:latin typeface="Segoe UI"/>
              </a:rPr>
              <a:t>tempo total = a loja mais lenta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892040"/>
            <a:ext cx="3520440" cy="1143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5038344"/>
            <a:ext cx="3118104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D29922"/>
                </a:solidFill>
                <a:latin typeface="Consolas"/>
              </a:rPr>
              <a:t>2</a:t>
            </a:r>
          </a:p>
          <a:p>
            <a:r>
              <a:rPr sz="1100" b="0" i="0">
                <a:solidFill>
                  <a:srgbClr val="93A1B0"/>
                </a:solidFill>
                <a:latin typeface="Segoe UI"/>
              </a:rPr>
              <a:t>lojas cortadas pelo select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20">
                <a:solidFill>
                  <a:srgbClr val="5C6B7A"/>
                </a:solidFill>
                <a:latin typeface="Consolas"/>
              </a:rPr>
              <a:t>11   </a:t>
            </a:r>
            <a:r>
              <a:rPr sz="1300" b="1" i="0" spc="220">
                <a:solidFill>
                  <a:srgbClr val="35C7EB"/>
                </a:solidFill>
                <a:latin typeface="Consolas"/>
              </a:rPr>
              <a:t>SITE / 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E6EDF3"/>
                </a:solidFill>
                <a:latin typeface="Segoe UI"/>
              </a:rPr>
              <a:t>Demonstração: </a:t>
            </a:r>
            <a:r>
              <a:rPr sz="3400" b="1" i="0">
                <a:solidFill>
                  <a:srgbClr val="35C7EB"/>
                </a:solidFill>
                <a:latin typeface="Segoe UI"/>
              </a:rPr>
              <a:t>API real e comparação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212080" cy="246888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984247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6" y="1984247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1872" y="1984247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911095"/>
            <a:ext cx="4114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0" i="0">
                <a:solidFill>
                  <a:srgbClr val="5C6B7A"/>
                </a:solidFill>
                <a:latin typeface="Consolas"/>
              </a:rPr>
              <a:t>$ ./webscraper-real — dummyjson.com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40279"/>
            <a:ext cx="4846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 i="0">
                <a:solidFill>
                  <a:srgbClr val="3FB950"/>
                </a:solidFill>
                <a:latin typeface="Consolas"/>
              </a:rPr>
              <a:t>✓ Selfie Lamp w/ iPhone   $ 12.08  0.22s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3FB950"/>
                </a:solidFill>
                <a:latin typeface="Consolas"/>
              </a:rPr>
              <a:t>✓ iPhone Charger          $ 16.29  0.38s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3FB950"/>
                </a:solidFill>
                <a:latin typeface="Consolas"/>
              </a:rPr>
              <a:t>✓ iPhone 13 Pro           $996.92  0.38s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35C7EB"/>
                </a:solidFill>
                <a:latin typeface="Consolas"/>
              </a:rPr>
              <a:t>Concorrente 0.38s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5C6B7A"/>
                </a:solidFill>
                <a:latin typeface="Consolas"/>
              </a:rPr>
              <a:t>Serial      2.42s</a:t>
            </a:r>
          </a:p>
          <a:p>
            <a:pPr>
              <a:lnSpc>
                <a:spcPct val="115000"/>
              </a:lnSpc>
            </a:pPr>
            <a:r>
              <a:rPr sz="1200" b="0" i="0">
                <a:solidFill>
                  <a:srgbClr val="3FB950"/>
                </a:solidFill>
                <a:latin typeface="Consolas"/>
              </a:rPr>
              <a:t>Speedup     6.3x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0" y="1874519"/>
          <a:ext cx="54406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11430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93A1B0"/>
                          </a:solidFill>
                          <a:latin typeface="Consolas"/>
                        </a:rPr>
                        <a:t>Implementação</a:t>
                      </a:r>
                    </a:p>
                  </a:txBody>
                  <a:tcPr marL="91440" anchor="ctr">
                    <a:solidFill>
                      <a:srgbClr val="1C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93A1B0"/>
                          </a:solidFill>
                          <a:latin typeface="Consolas"/>
                        </a:rPr>
                        <a:t>Tempo</a:t>
                      </a:r>
                    </a:p>
                  </a:txBody>
                  <a:tcPr marL="91440" anchor="ctr">
                    <a:solidFill>
                      <a:srgbClr val="1C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93A1B0"/>
                          </a:solidFill>
                          <a:latin typeface="Consolas"/>
                        </a:rPr>
                        <a:t>vs seq</a:t>
                      </a:r>
                    </a:p>
                  </a:txBody>
                  <a:tcPr marL="91440" anchor="ctr">
                    <a:solidFill>
                      <a:srgbClr val="1C232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E6EDF3"/>
                          </a:solidFill>
                          <a:latin typeface="Consolas"/>
                        </a:rPr>
                        <a:t>Python sequencial</a:t>
                      </a:r>
                    </a:p>
                  </a:txBody>
                  <a:tcPr marL="91440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B0"/>
                          </a:solidFill>
                          <a:latin typeface="Consolas"/>
                        </a:rPr>
                        <a:t>6.01s</a:t>
                      </a:r>
                    </a:p>
                  </a:txBody>
                  <a:tcPr marL="91440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B0"/>
                          </a:solidFill>
                          <a:latin typeface="Consolas"/>
                        </a:rPr>
                        <a:t>1.0×</a:t>
                      </a:r>
                    </a:p>
                  </a:txBody>
                  <a:tcPr marL="91440" anchor="ctr"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E6EDF3"/>
                          </a:solidFill>
                          <a:latin typeface="Consolas"/>
                        </a:rPr>
                        <a:t>Python threads</a:t>
                      </a:r>
                    </a:p>
                  </a:txBody>
                  <a:tcPr marL="91440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B0"/>
                          </a:solidFill>
                          <a:latin typeface="Consolas"/>
                        </a:rPr>
                        <a:t>7.29s</a:t>
                      </a:r>
                    </a:p>
                  </a:txBody>
                  <a:tcPr marL="91440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B0"/>
                          </a:solidFill>
                          <a:latin typeface="Consolas"/>
                        </a:rPr>
                        <a:t>0.8×</a:t>
                      </a:r>
                    </a:p>
                  </a:txBody>
                  <a:tcPr marL="91440" anchor="ctr"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E6EDF3"/>
                          </a:solidFill>
                          <a:latin typeface="Consolas"/>
                        </a:rPr>
                        <a:t>Python pool</a:t>
                      </a:r>
                    </a:p>
                  </a:txBody>
                  <a:tcPr marL="91440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B0"/>
                          </a:solidFill>
                          <a:latin typeface="Consolas"/>
                        </a:rPr>
                        <a:t>3.33s</a:t>
                      </a:r>
                    </a:p>
                  </a:txBody>
                  <a:tcPr marL="91440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93A1B0"/>
                          </a:solidFill>
                          <a:latin typeface="Consolas"/>
                        </a:rPr>
                        <a:t>1.8×</a:t>
                      </a:r>
                    </a:p>
                  </a:txBody>
                  <a:tcPr marL="91440" anchor="ctr"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35C7EB"/>
                          </a:solidFill>
                          <a:latin typeface="Consolas"/>
                        </a:rPr>
                        <a:t>Go goroutines</a:t>
                      </a:r>
                    </a:p>
                  </a:txBody>
                  <a:tcPr marL="91440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35C7EB"/>
                          </a:solidFill>
                          <a:latin typeface="Consolas"/>
                        </a:rPr>
                        <a:t>0.29s</a:t>
                      </a:r>
                    </a:p>
                  </a:txBody>
                  <a:tcPr marL="91440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3FB950"/>
                          </a:solidFill>
                          <a:latin typeface="Consolas"/>
                        </a:rPr>
                        <a:t>20.7×</a:t>
                      </a:r>
                    </a:p>
                  </a:txBody>
                  <a:tcPr marL="91440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5C6B7A"/>
                </a:solidFill>
                <a:latin typeface="Consolas"/>
              </a:rPr>
              <a:t>O GIL do Python serializa threads em CPU; goroutines rodam em paralelismo real sobre vários núcleos.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20">
                <a:solidFill>
                  <a:srgbClr val="5C6B7A"/>
                </a:solidFill>
                <a:latin typeface="Consolas"/>
              </a:rPr>
              <a:t>12   </a:t>
            </a:r>
            <a:r>
              <a:rPr sz="1300" b="1" i="0" spc="220">
                <a:solidFill>
                  <a:srgbClr val="35C7EB"/>
                </a:solidFill>
                <a:latin typeface="Consolas"/>
              </a:rPr>
              <a:t>COMPARAÇÃO DE LINGUAGEM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E6EDF3"/>
                </a:solidFill>
                <a:latin typeface="Segoe UI"/>
              </a:rPr>
              <a:t>Comparação </a:t>
            </a:r>
            <a:r>
              <a:rPr sz="4000" b="1" i="0">
                <a:solidFill>
                  <a:srgbClr val="35C7EB"/>
                </a:solidFill>
                <a:latin typeface="Segoe UI"/>
              </a:rPr>
              <a:t>com 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92707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297680"/>
                <a:gridCol w="3977639"/>
              </a:tblGrid>
              <a:tr h="50292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93A1B0"/>
                          </a:solidFill>
                          <a:latin typeface="Consolas"/>
                        </a:rPr>
                        <a:t>Critério</a:t>
                      </a:r>
                    </a:p>
                  </a:txBody>
                  <a:tcPr marL="91440" marT="18288" marB="18288" anchor="ctr">
                    <a:solidFill>
                      <a:srgbClr val="1C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35C7EB"/>
                          </a:solidFill>
                          <a:latin typeface="Consolas"/>
                        </a:rPr>
                        <a:t>Go</a:t>
                      </a:r>
                    </a:p>
                  </a:txBody>
                  <a:tcPr marL="91440" marT="18288" marB="18288" anchor="ctr">
                    <a:solidFill>
                      <a:srgbClr val="1C23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D29922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91440" marT="18288" marB="18288" anchor="ctr">
                    <a:solidFill>
                      <a:srgbClr val="1C23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E6EDF3"/>
                          </a:solidFill>
                          <a:latin typeface="Segoe UI"/>
                        </a:rPr>
                        <a:t>Concorrência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E6EDF3"/>
                          </a:solidFill>
                          <a:latin typeface="Segoe UI"/>
                        </a:rPr>
                        <a:t>nativa: go, channels, select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3A1B0"/>
                          </a:solidFill>
                          <a:latin typeface="Segoe UI"/>
                        </a:rPr>
                        <a:t>manual: pthreads + mutex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E6EDF3"/>
                          </a:solidFill>
                          <a:latin typeface="Segoe UI"/>
                        </a:rPr>
                        <a:t>Memória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E6EDF3"/>
                          </a:solidFill>
                          <a:latin typeface="Segoe UI"/>
                        </a:rPr>
                        <a:t>garbage collector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3A1B0"/>
                          </a:solidFill>
                          <a:latin typeface="Segoe UI"/>
                        </a:rPr>
                        <a:t>malloc/free manual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E6EDF3"/>
                          </a:solidFill>
                          <a:latin typeface="Segoe UI"/>
                        </a:rPr>
                        <a:t>Segurança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E6EDF3"/>
                          </a:solidFill>
                          <a:latin typeface="Segoe UI"/>
                        </a:rPr>
                        <a:t>sem ponteiro inseguro; race detector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3A1B0"/>
                          </a:solidFill>
                          <a:latin typeface="Segoe UI"/>
                        </a:rPr>
                        <a:t>buffer overflow, UB, segfault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E6EDF3"/>
                          </a:solidFill>
                          <a:latin typeface="Segoe UI"/>
                        </a:rPr>
                        <a:t>HTTP + JSON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E6EDF3"/>
                          </a:solidFill>
                          <a:latin typeface="Segoe UI"/>
                        </a:rPr>
                        <a:t>bibliotecas padrão embutidas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3A1B0"/>
                          </a:solidFill>
                          <a:latin typeface="Segoe UI"/>
                        </a:rPr>
                        <a:t>dependências externas (libcurl)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E6EDF3"/>
                          </a:solidFill>
                          <a:latin typeface="Segoe UI"/>
                        </a:rPr>
                        <a:t>Cross-compile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E6EDF3"/>
                          </a:solidFill>
                          <a:latin typeface="Segoe UI"/>
                        </a:rPr>
                        <a:t>GOOS=windows go build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3A1B0"/>
                          </a:solidFill>
                          <a:latin typeface="Segoe UI"/>
                        </a:rPr>
                        <a:t>toolchain cruzado dedicado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E6EDF3"/>
                          </a:solidFill>
                          <a:latin typeface="Segoe UI"/>
                        </a:rPr>
                        <a:t>Legibilidade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E6EDF3"/>
                          </a:solidFill>
                          <a:latin typeface="Segoe UI"/>
                        </a:rPr>
                        <a:t>gofmt único; 25 palavras-chave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3A1B0"/>
                          </a:solidFill>
                          <a:latin typeface="Segoe UI"/>
                        </a:rPr>
                        <a:t>macros, headers, estilos divergentes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E6EDF3"/>
                          </a:solidFill>
                          <a:latin typeface="Segoe UI"/>
                        </a:rPr>
                        <a:t>Tempo-real / embarcado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93A1B0"/>
                          </a:solidFill>
                          <a:latin typeface="Segoe UI"/>
                        </a:rPr>
                        <a:t>GC introduz pausas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D29922"/>
                          </a:solidFill>
                          <a:latin typeface="Segoe UI"/>
                        </a:rPr>
                        <a:t>vantagem do C: controle total</a:t>
                      </a:r>
                    </a:p>
                  </a:txBody>
                  <a:tcPr marL="91440" marT="18288" marB="18288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09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5C6B7A"/>
                </a:solidFill>
                <a:latin typeface="Consolas"/>
              </a:rPr>
              <a:t>C vence em embarcado e tempo-real duro. Para serviços de rede concorrentes, Go entrega o mesmo com menos risco.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 spc="220">
                <a:solidFill>
                  <a:srgbClr val="5C6B7A"/>
                </a:solidFill>
                <a:latin typeface="Consolas"/>
              </a:rPr>
              <a:t>13   </a:t>
            </a:r>
            <a:r>
              <a:rPr sz="1300" b="1" i="0" spc="220">
                <a:solidFill>
                  <a:srgbClr val="35C7EB"/>
                </a:solidFill>
                <a:latin typeface="Consolas"/>
              </a:rPr>
              <a:t>A 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E6EDF3"/>
                </a:solidFill>
                <a:latin typeface="Segoe UI"/>
              </a:rPr>
              <a:t>O grupo e a </a:t>
            </a:r>
            <a:r>
              <a:rPr sz="3400" b="1" i="0">
                <a:solidFill>
                  <a:srgbClr val="35C7EB"/>
                </a:solidFill>
                <a:latin typeface="Segoe UI"/>
              </a:rPr>
              <a:t>divisão do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93A1B0"/>
                </a:solidFill>
                <a:latin typeface="Segoe UI"/>
              </a:rPr>
              <a:t>Grupo de 5 integrantes — cada um responsável por uma parte do </a:t>
            </a:r>
            <a:r>
              <a:rPr sz="1300" b="1" i="0">
                <a:solidFill>
                  <a:srgbClr val="E6EDF3"/>
                </a:solidFill>
                <a:latin typeface="Segoe UI"/>
              </a:rPr>
              <a:t>código Go</a:t>
            </a:r>
            <a:r>
              <a:rPr sz="1300" b="0" i="0">
                <a:solidFill>
                  <a:srgbClr val="93A1B0"/>
                </a:solidFill>
                <a:latin typeface="Segoe UI"/>
              </a:rPr>
              <a:t> e por um </a:t>
            </a:r>
            <a:r>
              <a:rPr sz="1300" b="1" i="0">
                <a:solidFill>
                  <a:srgbClr val="E6EDF3"/>
                </a:solidFill>
                <a:latin typeface="Segoe UI"/>
              </a:rPr>
              <a:t>componente do projeto</a:t>
            </a:r>
            <a:r>
              <a:rPr sz="1300" b="0" i="0">
                <a:solidFill>
                  <a:srgbClr val="93A1B0"/>
                </a:solidFill>
                <a:latin typeface="Segoe UI"/>
              </a:rPr>
              <a:t> (slides, wiki, vídeo, comparações).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148840" cy="3200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478024"/>
            <a:ext cx="1856232" cy="2907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E6EDF3"/>
                </a:solidFill>
                <a:latin typeface="Segoe UI"/>
              </a:rPr>
              <a:t>Gustavo</a:t>
            </a:r>
          </a:p>
          <a:p>
            <a:pPr>
              <a:spcAft>
                <a:spcPts val="200"/>
              </a:spcAft>
            </a:pPr>
            <a:r>
              <a:rPr sz="900" b="1" i="0" spc="80">
                <a:solidFill>
                  <a:srgbClr val="35C7EB"/>
                </a:solidFill>
                <a:latin typeface="Consolas"/>
              </a:rPr>
              <a:t>SERVIDOR MOCK</a:t>
            </a:r>
          </a:p>
          <a:p>
            <a:pPr>
              <a:spcAft>
                <a:spcPts val="800"/>
              </a:spcAft>
            </a:pPr>
            <a:r>
              <a:rPr sz="900" b="0" i="0">
                <a:solidFill>
                  <a:srgbClr val="5C6B7A"/>
                </a:solidFill>
                <a:latin typeface="Consolas"/>
              </a:rPr>
              <a:t>mock/server.go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050" b="0" i="0">
                <a:solidFill>
                  <a:srgbClr val="93A1B0"/>
                </a:solidFill>
                <a:latin typeface="Segoe UI"/>
              </a:rPr>
              <a:t>StoreConfig, as 10 lojas com latências e o StartServer.</a:t>
            </a:r>
          </a:p>
          <a:p>
            <a:r>
              <a:rPr sz="950" b="1" i="0">
                <a:solidFill>
                  <a:srgbClr val="35C7EB"/>
                </a:solidFill>
                <a:latin typeface="Consolas"/>
              </a:rPr>
              <a:t>+ também:</a:t>
            </a:r>
          </a:p>
          <a:p>
            <a:r>
              <a:rPr sz="1000" b="0" i="0">
                <a:solidFill>
                  <a:srgbClr val="93A1B0"/>
                </a:solidFill>
                <a:latin typeface="Segoe UI"/>
              </a:rPr>
              <a:t>Wiki / documentação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6936" y="2331720"/>
            <a:ext cx="2148840" cy="3200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478024"/>
            <a:ext cx="1856232" cy="2907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E6EDF3"/>
                </a:solidFill>
                <a:latin typeface="Segoe UI"/>
              </a:rPr>
              <a:t>Jhuliana</a:t>
            </a:r>
          </a:p>
          <a:p>
            <a:pPr>
              <a:spcAft>
                <a:spcPts val="200"/>
              </a:spcAft>
            </a:pPr>
            <a:r>
              <a:rPr sz="900" b="1" i="0" spc="80">
                <a:solidFill>
                  <a:srgbClr val="35C7EB"/>
                </a:solidFill>
                <a:latin typeface="Consolas"/>
              </a:rPr>
              <a:t>ORQUESTRAÇÃO</a:t>
            </a:r>
          </a:p>
          <a:p>
            <a:pPr>
              <a:spcAft>
                <a:spcPts val="800"/>
              </a:spcAft>
            </a:pPr>
            <a:r>
              <a:rPr sz="900" b="0" i="0">
                <a:solidFill>
                  <a:srgbClr val="5C6B7A"/>
                </a:solidFill>
                <a:latin typeface="Consolas"/>
              </a:rPr>
              <a:t>webscraper/main.go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050" b="0" i="0">
                <a:solidFill>
                  <a:srgbClr val="93A1B0"/>
                </a:solidFill>
                <a:latin typeface="Segoe UI"/>
              </a:rPr>
              <a:t>Goroutine por loja, canal bufferizado e coleta com &lt;-ch.</a:t>
            </a:r>
          </a:p>
          <a:p>
            <a:r>
              <a:rPr sz="950" b="1" i="0">
                <a:solidFill>
                  <a:srgbClr val="35C7EB"/>
                </a:solidFill>
                <a:latin typeface="Consolas"/>
              </a:rPr>
              <a:t>+ também:</a:t>
            </a:r>
          </a:p>
          <a:p>
            <a:r>
              <a:rPr sz="1000" b="0" i="0">
                <a:solidFill>
                  <a:srgbClr val="93A1B0"/>
                </a:solidFill>
                <a:latin typeface="Segoe UI"/>
              </a:rPr>
              <a:t>Slides / apresentação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93792" y="2331720"/>
            <a:ext cx="2148840" cy="3200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0096" y="2478024"/>
            <a:ext cx="1856232" cy="2907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E6EDF3"/>
                </a:solidFill>
                <a:latin typeface="Segoe UI"/>
              </a:rPr>
              <a:t>Marcelo</a:t>
            </a:r>
          </a:p>
          <a:p>
            <a:pPr>
              <a:spcAft>
                <a:spcPts val="200"/>
              </a:spcAft>
            </a:pPr>
            <a:r>
              <a:rPr sz="900" b="1" i="0" spc="80">
                <a:solidFill>
                  <a:srgbClr val="35C7EB"/>
                </a:solidFill>
                <a:latin typeface="Consolas"/>
              </a:rPr>
              <a:t>SELECT + TIMEOUT</a:t>
            </a:r>
          </a:p>
          <a:p>
            <a:pPr>
              <a:spcAft>
                <a:spcPts val="800"/>
              </a:spcAft>
            </a:pPr>
            <a:r>
              <a:rPr sz="900" b="0" i="0">
                <a:solidFill>
                  <a:srgbClr val="5C6B7A"/>
                </a:solidFill>
                <a:latin typeface="Consolas"/>
              </a:rPr>
              <a:t>scrapePrice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050" b="0" i="0">
                <a:solidFill>
                  <a:srgbClr val="93A1B0"/>
                </a:solidFill>
                <a:latin typeface="Segoe UI"/>
              </a:rPr>
              <a:t>Goroutine interna + select entre resposta e time.After.</a:t>
            </a:r>
          </a:p>
          <a:p>
            <a:r>
              <a:rPr sz="950" b="1" i="0">
                <a:solidFill>
                  <a:srgbClr val="35C7EB"/>
                </a:solidFill>
                <a:latin typeface="Consolas"/>
              </a:rPr>
              <a:t>+ também:</a:t>
            </a:r>
          </a:p>
          <a:p>
            <a:r>
              <a:rPr sz="1000" b="0" i="0">
                <a:solidFill>
                  <a:srgbClr val="93A1B0"/>
                </a:solidFill>
                <a:latin typeface="Segoe UI"/>
              </a:rPr>
              <a:t>Comparação com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70648" y="2331720"/>
            <a:ext cx="2148840" cy="3200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2478024"/>
            <a:ext cx="1856232" cy="2907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E6EDF3"/>
                </a:solidFill>
                <a:latin typeface="Segoe UI"/>
              </a:rPr>
              <a:t>Enzo</a:t>
            </a:r>
          </a:p>
          <a:p>
            <a:pPr>
              <a:spcAft>
                <a:spcPts val="200"/>
              </a:spcAft>
            </a:pPr>
            <a:r>
              <a:rPr sz="900" b="1" i="0" spc="80">
                <a:solidFill>
                  <a:srgbClr val="35C7EB"/>
                </a:solidFill>
                <a:latin typeface="Consolas"/>
              </a:rPr>
              <a:t>API REAL</a:t>
            </a:r>
          </a:p>
          <a:p>
            <a:pPr>
              <a:spcAft>
                <a:spcPts val="800"/>
              </a:spcAft>
            </a:pPr>
            <a:r>
              <a:rPr sz="900" b="0" i="0">
                <a:solidFill>
                  <a:srgbClr val="5C6B7A"/>
                </a:solidFill>
                <a:latin typeface="Consolas"/>
              </a:rPr>
              <a:t>webscraper-real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050" b="0" i="0">
                <a:solidFill>
                  <a:srgbClr val="93A1B0"/>
                </a:solidFill>
                <a:latin typeface="Segoe UI"/>
              </a:rPr>
              <a:t>Structs Product/SearchResponse e decode do JSON.</a:t>
            </a:r>
          </a:p>
          <a:p>
            <a:r>
              <a:rPr sz="950" b="1" i="0">
                <a:solidFill>
                  <a:srgbClr val="35C7EB"/>
                </a:solidFill>
                <a:latin typeface="Consolas"/>
              </a:rPr>
              <a:t>+ também:</a:t>
            </a:r>
          </a:p>
          <a:p>
            <a:r>
              <a:rPr sz="1000" b="0" i="0">
                <a:solidFill>
                  <a:srgbClr val="93A1B0"/>
                </a:solidFill>
                <a:latin typeface="Segoe UI"/>
              </a:rPr>
              <a:t>Edição de vídeo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47504" y="2331720"/>
            <a:ext cx="2148840" cy="3200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63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93808" y="2478024"/>
            <a:ext cx="1856232" cy="2907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E6EDF3"/>
                </a:solidFill>
                <a:latin typeface="Segoe UI"/>
              </a:rPr>
              <a:t>Pedro Galeno</a:t>
            </a:r>
          </a:p>
          <a:p>
            <a:pPr>
              <a:spcAft>
                <a:spcPts val="200"/>
              </a:spcAft>
            </a:pPr>
            <a:r>
              <a:rPr sz="900" b="1" i="0" spc="80">
                <a:solidFill>
                  <a:srgbClr val="35C7EB"/>
                </a:solidFill>
                <a:latin typeface="Consolas"/>
              </a:rPr>
              <a:t>SAÍDA &amp; PORTABILIDADE</a:t>
            </a:r>
          </a:p>
          <a:p>
            <a:pPr>
              <a:spcAft>
                <a:spcPts val="800"/>
              </a:spcAft>
            </a:pPr>
            <a:r>
              <a:rPr sz="900" b="0" i="0">
                <a:solidFill>
                  <a:srgbClr val="5C6B7A"/>
                </a:solidFill>
                <a:latin typeface="Consolas"/>
              </a:rPr>
              <a:t>printSummary · ansi_*.go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050" b="0" i="0">
                <a:solidFill>
                  <a:srgbClr val="93A1B0"/>
                </a:solidFill>
                <a:latin typeface="Segoe UI"/>
              </a:rPr>
              <a:t>timeBar, printResult/printSummary, ANSI e build tags.</a:t>
            </a:r>
          </a:p>
          <a:p>
            <a:r>
              <a:rPr sz="950" b="1" i="0">
                <a:solidFill>
                  <a:srgbClr val="35C7EB"/>
                </a:solidFill>
                <a:latin typeface="Consolas"/>
              </a:rPr>
              <a:t>+ também:</a:t>
            </a:r>
          </a:p>
          <a:p>
            <a:r>
              <a:rPr sz="1000" b="0" i="0">
                <a:solidFill>
                  <a:srgbClr val="93A1B0"/>
                </a:solidFill>
                <a:latin typeface="Segoe UI"/>
              </a:rPr>
              <a:t>Comparação Python × 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1737360"/>
            <a:ext cx="1417320" cy="82296"/>
          </a:xfrm>
          <a:prstGeom prst="roundRect">
            <a:avLst/>
          </a:prstGeom>
          <a:solidFill>
            <a:srgbClr val="35C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 spc="260">
                <a:solidFill>
                  <a:srgbClr val="35C7EB"/>
                </a:solidFill>
                <a:latin typeface="Consolas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E6EDF3"/>
                </a:solidFill>
                <a:latin typeface="Segoe UI"/>
              </a:rPr>
              <a:t>Go, </a:t>
            </a:r>
            <a:r>
              <a:rPr sz="4800" b="1" i="0">
                <a:solidFill>
                  <a:srgbClr val="35C7EB"/>
                </a:solidFill>
                <a:latin typeface="Segoe UI"/>
              </a:rPr>
              <a:t>em resumo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840480"/>
            <a:ext cx="8869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i="0">
                <a:solidFill>
                  <a:srgbClr val="93A1B0"/>
                </a:solidFill>
                <a:latin typeface="Segoe UI"/>
              </a:rPr>
              <a:t>Go pega a sintaxe familiar do C e troca gerência manual de memória e concorrência frágil por </a:t>
            </a:r>
            <a:r>
              <a:rPr sz="1600" b="1" i="0">
                <a:solidFill>
                  <a:srgbClr val="E6EDF3"/>
                </a:solidFill>
                <a:latin typeface="Segoe UI"/>
              </a:rPr>
              <a:t>goroutines, channels e um GC</a:t>
            </a:r>
            <a:r>
              <a:rPr sz="1600" b="0" i="0">
                <a:solidFill>
                  <a:srgbClr val="93A1B0"/>
                </a:solidFill>
                <a:latin typeface="Segoe UI"/>
              </a:rPr>
              <a:t>. O projeto prova na prática: </a:t>
            </a:r>
            <a:r>
              <a:rPr sz="1600" b="1" i="0">
                <a:solidFill>
                  <a:srgbClr val="3FB950"/>
                </a:solidFill>
                <a:latin typeface="Segoe UI"/>
              </a:rPr>
              <a:t>6.3× mais rápido</a:t>
            </a:r>
            <a:r>
              <a:rPr sz="1600" b="0" i="0">
                <a:solidFill>
                  <a:srgbClr val="93A1B0"/>
                </a:solidFill>
                <a:latin typeface="Segoe UI"/>
              </a:rPr>
              <a:t> que serial e </a:t>
            </a:r>
            <a:r>
              <a:rPr sz="1600" b="1" i="0">
                <a:solidFill>
                  <a:srgbClr val="3FB950"/>
                </a:solidFill>
                <a:latin typeface="Segoe UI"/>
              </a:rPr>
              <a:t>20.7×</a:t>
            </a:r>
            <a:r>
              <a:rPr sz="1600" b="0" i="0">
                <a:solidFill>
                  <a:srgbClr val="93A1B0"/>
                </a:solidFill>
                <a:latin typeface="Segoe UI"/>
              </a:rPr>
              <a:t> mais que Python sequencial.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FB950"/>
                </a:solidFill>
                <a:latin typeface="Consolas"/>
              </a:rPr>
              <a:t>✓ goroutines</a:t>
            </a:r>
            <a:r>
              <a:rPr sz="1300" b="1" i="0">
                <a:solidFill>
                  <a:srgbClr val="3FB950"/>
                </a:solidFill>
                <a:latin typeface="Consolas"/>
              </a:rPr>
              <a:t>   ✓ channels</a:t>
            </a:r>
            <a:r>
              <a:rPr sz="1300" b="1" i="0">
                <a:solidFill>
                  <a:srgbClr val="3FB950"/>
                </a:solidFill>
                <a:latin typeface="Consolas"/>
              </a:rPr>
              <a:t>   ✓ select + timeout</a:t>
            </a:r>
            <a:r>
              <a:rPr sz="1300" b="1" i="0">
                <a:solidFill>
                  <a:srgbClr val="35C7EB"/>
                </a:solidFill>
                <a:latin typeface="Consolas"/>
              </a:rPr>
              <a:t>   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